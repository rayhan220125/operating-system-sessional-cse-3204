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65" r:id="rId12"/>
    <p:sldId id="270" r:id="rId13"/>
    <p:sldId id="266" r:id="rId14"/>
    <p:sldId id="268" r:id="rId15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70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87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76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web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8.svg"/><Relationship Id="rId13" Type="http://schemas.openxmlformats.org/officeDocument/2006/relationships/image" Target="../media/image4.png"/><Relationship Id="rId3" Type="http://schemas.openxmlformats.org/officeDocument/2006/relationships/image" Target="../media/image8.png"/><Relationship Id="rId12" Type="http://schemas.openxmlformats.org/officeDocument/2006/relationships/image" Target="../media/image-4-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-4-6.svg"/><Relationship Id="rId5" Type="http://schemas.openxmlformats.org/officeDocument/2006/relationships/image" Target="../media/image-4-4.svg"/><Relationship Id="rId10" Type="http://schemas.openxmlformats.org/officeDocument/2006/relationships/image" Target="../media/image-4-10.svg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eb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-10-7.sv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-10-5.svg"/><Relationship Id="rId11" Type="http://schemas.openxmlformats.org/officeDocument/2006/relationships/image" Target="../media/image-10-11.svg"/><Relationship Id="rId5" Type="http://schemas.openxmlformats.org/officeDocument/2006/relationships/image" Target="../media/image-10-3.svg"/><Relationship Id="rId4" Type="http://schemas.openxmlformats.org/officeDocument/2006/relationships/image" Target="../media/image8.png"/><Relationship Id="rId9" Type="http://schemas.openxmlformats.org/officeDocument/2006/relationships/image" Target="../media/image-10-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2373987"/>
            <a:ext cx="58752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xv6 Operating System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6280190" y="342292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Small Unix-like Teaching OS for Understanding Real Operating System Concepts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280190" y="440388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Presenter: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Md. Abu Rayhan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ID: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220125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Computer Science &amp; Engineering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 err="1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Pabna</a:t>
            </a:r>
            <a:r>
              <a:rPr lang="en-US" sz="1750" b="1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</a:rPr>
              <a:t> University of Science and Technology</a:t>
            </a:r>
            <a:endParaRPr lang="en-US" sz="175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34" t="-1838" r="12414" b="1838"/>
          <a:stretch/>
        </p:blipFill>
        <p:spPr>
          <a:xfrm>
            <a:off x="317540" y="899517"/>
            <a:ext cx="5511760" cy="649843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7064" y="7772360"/>
            <a:ext cx="2263336" cy="457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1177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Agenda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627942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structured walkthrough of xv6 — from architecture and boot sequence to memory management, I/O, and hands-on extension.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09537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75761"/>
            <a:ext cx="6457593" cy="228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240649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Introduction to xv6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378898" y="2009537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898" y="2275761"/>
            <a:ext cx="6457712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78898" y="240649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793790" y="2927271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76468"/>
            <a:ext cx="6457593" cy="228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332422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OS Architecture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7378898" y="2927271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898" y="3176468"/>
            <a:ext cx="6457712" cy="228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78898" y="332422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Boot Flow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793790" y="3845004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077295"/>
            <a:ext cx="6457593" cy="228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3790" y="424195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Calls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7378898" y="3845004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898" y="4077295"/>
            <a:ext cx="6457712" cy="228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378898" y="4241959"/>
            <a:ext cx="330065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 Management &amp; Lifecycle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793790" y="4762738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07</a:t>
            </a:r>
            <a:endParaRPr lang="en-US" sz="13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978003"/>
            <a:ext cx="6457593" cy="228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93790" y="5159693"/>
            <a:ext cx="282273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Scheduling &amp; Sleep/Wakeup</a:t>
            </a:r>
            <a:endParaRPr lang="en-US" sz="1650" dirty="0"/>
          </a:p>
        </p:txBody>
      </p:sp>
      <p:sp>
        <p:nvSpPr>
          <p:cNvPr id="25" name="Text 16"/>
          <p:cNvSpPr/>
          <p:nvPr/>
        </p:nvSpPr>
        <p:spPr>
          <a:xfrm>
            <a:off x="7378898" y="4762738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08</a:t>
            </a:r>
            <a:endParaRPr lang="en-US" sz="13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898" y="4978003"/>
            <a:ext cx="6457712" cy="2286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378898" y="5159693"/>
            <a:ext cx="223682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Memory Management</a:t>
            </a:r>
            <a:endParaRPr lang="en-US" sz="1650" dirty="0"/>
          </a:p>
        </p:txBody>
      </p:sp>
      <p:sp>
        <p:nvSpPr>
          <p:cNvPr id="28" name="Text 18"/>
          <p:cNvSpPr/>
          <p:nvPr/>
        </p:nvSpPr>
        <p:spPr>
          <a:xfrm>
            <a:off x="793790" y="5680472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09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878830"/>
            <a:ext cx="6457593" cy="2286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93790" y="607742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I/O &amp; File Descriptors</a:t>
            </a:r>
            <a:endParaRPr lang="en-US" sz="1650" dirty="0"/>
          </a:p>
        </p:txBody>
      </p:sp>
      <p:sp>
        <p:nvSpPr>
          <p:cNvPr id="31" name="Text 20"/>
          <p:cNvSpPr/>
          <p:nvPr/>
        </p:nvSpPr>
        <p:spPr>
          <a:xfrm>
            <a:off x="7378898" y="5680472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10</a:t>
            </a:r>
            <a:endParaRPr lang="en-US" sz="13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898" y="5878830"/>
            <a:ext cx="6457712" cy="2286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378898" y="6077426"/>
            <a:ext cx="303383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Compilation &amp; Execution Flow</a:t>
            </a:r>
            <a:endParaRPr lang="en-US" sz="1650" dirty="0"/>
          </a:p>
        </p:txBody>
      </p:sp>
      <p:sp>
        <p:nvSpPr>
          <p:cNvPr id="34" name="Text 22"/>
          <p:cNvSpPr/>
          <p:nvPr/>
        </p:nvSpPr>
        <p:spPr>
          <a:xfrm>
            <a:off x="793790" y="6598206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11</a:t>
            </a:r>
            <a:endParaRPr lang="en-US" sz="13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6779538"/>
            <a:ext cx="6457593" cy="2286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793790" y="6995160"/>
            <a:ext cx="251805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Adding a New Command</a:t>
            </a:r>
            <a:endParaRPr lang="en-US" sz="1650" dirty="0"/>
          </a:p>
        </p:txBody>
      </p:sp>
      <p:sp>
        <p:nvSpPr>
          <p:cNvPr id="37" name="Text 24"/>
          <p:cNvSpPr/>
          <p:nvPr/>
        </p:nvSpPr>
        <p:spPr>
          <a:xfrm>
            <a:off x="7378898" y="6598206"/>
            <a:ext cx="340162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12</a:t>
            </a:r>
            <a:endParaRPr lang="en-US" sz="13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898" y="6779538"/>
            <a:ext cx="6457712" cy="2286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7378898" y="6995160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1650" dirty="0"/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605" y="7772360"/>
            <a:ext cx="2263336" cy="457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20497"/>
            <a:ext cx="1556742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88482"/>
            <a:ext cx="128456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374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xv6?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1866781" y="5010507"/>
            <a:ext cx="1936909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559981" y="2890480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xv6 is a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teaching operating system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written in </a:t>
            </a: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 and RISC-V assembly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developed at MIT. It is a re-implementation of the classic Unix Version 6, modernized for the RISC-V architecture.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559981" y="4183261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Unlike production-grade systems such as Linux or Windows, xv6 is intentionally minimal — making it ideal for bridging theoretical OS concepts with real implementation.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559981" y="5527119"/>
            <a:ext cx="8284131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795" y="5871210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7097" y="5810607"/>
            <a:ext cx="732020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xv6 is used in MIT's 6.S081 course and serves as a hands-on laboratory for understanding real kernel internals.</a:t>
            </a:r>
            <a:endParaRPr lang="en-US" sz="1750" dirty="0"/>
          </a:p>
        </p:txBody>
      </p:sp>
      <p:pic>
        <p:nvPicPr>
          <p:cNvPr id="2050" name="Picture 2" descr="Mathijs van Kemenade / xv6 Rust Implementation · GitLa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69" y="2649230"/>
            <a:ext cx="4575572" cy="457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604" y="7772360"/>
            <a:ext cx="2263336" cy="457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14149"/>
            <a:ext cx="1620917" cy="343614"/>
          </a:xfrm>
          <a:prstGeom prst="roundRect">
            <a:avLst>
              <a:gd name="adj" fmla="val 6733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09399" y="871895"/>
            <a:ext cx="1389698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93790" y="1223248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Features of xv6</a:t>
            </a:r>
            <a:endParaRPr lang="en-US" sz="3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071449"/>
            <a:ext cx="385524" cy="3855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2661761"/>
            <a:ext cx="245256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 Management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93790" y="3061216"/>
            <a:ext cx="6419017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 full process creation, execution, and lifecycle control.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17594" y="2071449"/>
            <a:ext cx="385524" cy="3855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17594" y="266176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Virtual Memory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7417594" y="3061216"/>
            <a:ext cx="641901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Per-process address spaces isolated via page tables mapping virtual addresses to physical RAM frames.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967043"/>
            <a:ext cx="385524" cy="3855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455735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File System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793790" y="4956810"/>
            <a:ext cx="641901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simple Unix-like file system using inodes to manage persistent storage and directory hierarchies.</a:t>
            </a:r>
            <a:endParaRPr lang="en-US" sz="15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17594" y="3967043"/>
            <a:ext cx="385524" cy="38552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17594" y="455735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Calls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7417594" y="4956810"/>
            <a:ext cx="641901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compact, well-defined interface between user programs and kernel services.</a:t>
            </a:r>
            <a:endParaRPr lang="en-US" sz="15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855018"/>
            <a:ext cx="385524" cy="38552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3790" y="644532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Scheduling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793790" y="6844784"/>
            <a:ext cx="6419017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Preemptive round-robin CPU scheduling with context switching via </a:t>
            </a:r>
            <a:r>
              <a:rPr lang="en-US" sz="15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swtch()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17594" y="5855018"/>
            <a:ext cx="385524" cy="38552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17594" y="644532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Device Interaction</a:t>
            </a:r>
            <a:endParaRPr lang="en-US" sz="1850" dirty="0"/>
          </a:p>
        </p:txBody>
      </p:sp>
      <p:sp>
        <p:nvSpPr>
          <p:cNvPr id="22" name="Text 14"/>
          <p:cNvSpPr/>
          <p:nvPr/>
        </p:nvSpPr>
        <p:spPr>
          <a:xfrm>
            <a:off x="7417594" y="6844784"/>
            <a:ext cx="6419017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Uniform device access through file descriptors, unifying files, consoles, and pipes.</a:t>
            </a:r>
            <a:endParaRPr lang="en-US" sz="150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1041" y="7772360"/>
            <a:ext cx="2263336" cy="457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0472" y="1288441"/>
            <a:ext cx="1318162" cy="183475"/>
          </a:xfrm>
          <a:prstGeom prst="roundRect">
            <a:avLst>
              <a:gd name="adj" fmla="val 7650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682163" y="1316206"/>
            <a:ext cx="1206471" cy="204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3243" y="2214195"/>
            <a:ext cx="5318662" cy="365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Operating 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3243" y="3273136"/>
            <a:ext cx="7820263" cy="883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xv6 enforces a clean layered architecture. Each layer interacts only with adjacent layers, </a:t>
            </a:r>
            <a:r>
              <a:rPr lang="en-US" sz="14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ensuring</a:t>
            </a:r>
          </a:p>
          <a:p>
            <a:pPr marL="0" indent="0">
              <a:lnSpc>
                <a:spcPts val="1100"/>
              </a:lnSpc>
              <a:buNone/>
            </a:pPr>
            <a:endParaRPr lang="en-US" sz="14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>
              <a:lnSpc>
                <a:spcPts val="1100"/>
              </a:lnSpc>
              <a:buNone/>
            </a:pPr>
            <a:r>
              <a:rPr lang="en-US" sz="14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abstraction, protection, and modularity</a:t>
            </a:r>
            <a:r>
              <a:rPr lang="en-US" sz="14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0" indent="0">
              <a:lnSpc>
                <a:spcPts val="1100"/>
              </a:lnSpc>
              <a:buNone/>
            </a:pPr>
            <a:endParaRPr lang="en-US" sz="1400" dirty="0">
              <a:solidFill>
                <a:srgbClr val="15213F"/>
              </a:solidFill>
              <a:latin typeface="Roboto" pitchFamily="34" charset="0"/>
              <a:ea typeface="Roboto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3243" y="4308973"/>
            <a:ext cx="7552708" cy="231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00"/>
              </a:lnSpc>
              <a:buSzPct val="100000"/>
              <a:buChar char="•"/>
            </a:pPr>
            <a:endParaRPr lang="en-US" sz="1400" b="1" dirty="0" smtClean="0">
              <a:solidFill>
                <a:srgbClr val="15213F"/>
              </a:solidFill>
              <a:latin typeface="Roboto" panose="020B0604020202020204" charset="0"/>
              <a:ea typeface="Roboto" panose="020B0604020202020204" charset="0"/>
              <a:cs typeface="Roboto" pitchFamily="34" charset="-120"/>
            </a:endParaRPr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1400" b="1" dirty="0" smtClean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Resource Management</a:t>
            </a:r>
            <a:r>
              <a:rPr lang="en-US" sz="1400" dirty="0" smtClean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 — CPU, memory, and I/O allocation</a:t>
            </a:r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endParaRPr lang="en-US" sz="1400" dirty="0" smtClean="0">
              <a:solidFill>
                <a:srgbClr val="15213F"/>
              </a:solidFill>
              <a:latin typeface="Roboto" panose="020B0604020202020204" charset="0"/>
              <a:ea typeface="Roboto" panose="020B0604020202020204" charset="0"/>
              <a:cs typeface="Roboto" pitchFamily="34" charset="-120"/>
            </a:endParaRPr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endParaRPr lang="en-US" sz="1400" dirty="0" smtClean="0">
              <a:latin typeface="Roboto" panose="020B0604020202020204" charset="0"/>
              <a:ea typeface="Roboto" panose="020B0604020202020204" charset="0"/>
            </a:endParaRPr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1400" b="1" dirty="0" smtClean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Protection</a:t>
            </a:r>
            <a:r>
              <a:rPr lang="en-US" sz="1400" dirty="0" smtClean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— User/kernel mode isolation via privilege </a:t>
            </a:r>
            <a:r>
              <a:rPr lang="en-US" sz="1400" dirty="0" smtClean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levels</a:t>
            </a:r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endParaRPr lang="en-US" sz="1400" dirty="0" smtClean="0">
              <a:solidFill>
                <a:srgbClr val="15213F"/>
              </a:solidFill>
              <a:latin typeface="Roboto" panose="020B0604020202020204" charset="0"/>
              <a:ea typeface="Roboto" panose="020B0604020202020204" charset="0"/>
              <a:cs typeface="Roboto" pitchFamily="34" charset="-120"/>
            </a:endParaRPr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endParaRPr lang="en-US" sz="1400" dirty="0">
              <a:latin typeface="Roboto" panose="020B0604020202020204" charset="0"/>
              <a:ea typeface="Roboto" panose="020B0604020202020204" charset="0"/>
            </a:endParaRPr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1400" b="1" dirty="0" smtClean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Abstraction</a:t>
            </a:r>
            <a:r>
              <a:rPr lang="en-US" sz="1400" dirty="0" smtClean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 — Files, processes, and devices as uniform interfaces</a:t>
            </a:r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endParaRPr lang="en-US" sz="1400" dirty="0">
              <a:solidFill>
                <a:srgbClr val="15213F"/>
              </a:solidFill>
              <a:latin typeface="Roboto" panose="020B0604020202020204" charset="0"/>
              <a:ea typeface="Roboto" panose="020B0604020202020204" charset="0"/>
            </a:endParaRPr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endParaRPr lang="en-US" sz="1400" dirty="0" smtClean="0">
              <a:latin typeface="Roboto" panose="020B0604020202020204" charset="0"/>
              <a:ea typeface="Roboto" panose="020B0604020202020204" charset="0"/>
            </a:endParaRPr>
          </a:p>
          <a:p>
            <a:pPr marL="342900" indent="-342900" algn="l">
              <a:lnSpc>
                <a:spcPts val="1100"/>
              </a:lnSpc>
              <a:buSzPct val="100000"/>
              <a:buChar char="•"/>
            </a:pPr>
            <a:r>
              <a:rPr lang="en-US" sz="1400" b="1" dirty="0" smtClean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Coordination</a:t>
            </a:r>
            <a:r>
              <a:rPr lang="en-US" sz="1400" dirty="0" smtClean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15213F"/>
                </a:solidFill>
                <a:latin typeface="Roboto" panose="020B0604020202020204" charset="0"/>
                <a:ea typeface="Roboto" panose="020B0604020202020204" charset="0"/>
                <a:cs typeface="Roboto" pitchFamily="34" charset="-120"/>
              </a:rPr>
              <a:t>— Synchronization between concurrent processes</a:t>
            </a:r>
            <a:endParaRPr lang="en-US" sz="1400" dirty="0">
              <a:latin typeface="Roboto" panose="020B0604020202020204" charset="0"/>
              <a:ea typeface="Roboto" panose="020B0604020202020204" charset="0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728" y="1316205"/>
            <a:ext cx="5138478" cy="513847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6538" y="7761968"/>
            <a:ext cx="2263336" cy="457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407" y="657820"/>
            <a:ext cx="1163003" cy="262414"/>
          </a:xfrm>
          <a:prstGeom prst="roundRect">
            <a:avLst>
              <a:gd name="adj" fmla="val 7147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875109" y="704612"/>
            <a:ext cx="975598" cy="168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 SEQUENCE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81407" y="963216"/>
            <a:ext cx="3907393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Boot Flow of xv6</a:t>
            </a:r>
            <a:endParaRPr lang="en-US" sz="3050" dirty="0"/>
          </a:p>
        </p:txBody>
      </p:sp>
      <p:sp>
        <p:nvSpPr>
          <p:cNvPr id="5" name="Text 3"/>
          <p:cNvSpPr/>
          <p:nvPr/>
        </p:nvSpPr>
        <p:spPr>
          <a:xfrm>
            <a:off x="781407" y="1613059"/>
            <a:ext cx="13067586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startup under QEMU, xv6 executes a deterministic boot sequence transitioning from real-mode assembly to a fully operational multi-process kernel.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1945362"/>
            <a:ext cx="781407" cy="937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70447" y="2101572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QEMU Emulator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70447" y="2410301"/>
            <a:ext cx="12178546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Simulates RISC-V hardware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407" y="2883098"/>
            <a:ext cx="781407" cy="9377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70447" y="3039308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entry.S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70447" y="3348038"/>
            <a:ext cx="12178546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Assembly entry point; sets up stack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407" y="3820835"/>
            <a:ext cx="781407" cy="9377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70447" y="3977045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start()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670447" y="4285774"/>
            <a:ext cx="12178546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Initializes kernel memory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407" y="4758571"/>
            <a:ext cx="781407" cy="9377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70447" y="4914781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main()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670447" y="5223510"/>
            <a:ext cx="12178546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Initializes devices and console</a:t>
            </a:r>
            <a:endParaRPr lang="en-US" sz="12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407" y="5696307"/>
            <a:ext cx="781407" cy="93773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70447" y="5852517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userinit()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670447" y="6161246"/>
            <a:ext cx="12178546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Spawns first user process</a:t>
            </a:r>
            <a:endParaRPr lang="en-US" sz="12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407" y="6634043"/>
            <a:ext cx="781407" cy="93773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670447" y="6790253"/>
            <a:ext cx="1953697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init → Shell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1670447" y="7098983"/>
            <a:ext cx="12178546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Launches /init, then sh</a:t>
            </a:r>
            <a:endParaRPr lang="en-US" sz="12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79"/>
          <a:stretch/>
        </p:blipFill>
        <p:spPr>
          <a:xfrm>
            <a:off x="6208684" y="2040547"/>
            <a:ext cx="3650295" cy="516404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213" y="7772360"/>
            <a:ext cx="2263336" cy="457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45713"/>
            <a:ext cx="1898571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13698"/>
            <a:ext cx="162639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 INTERFACE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62683"/>
            <a:ext cx="63162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Calls Essentials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93790" y="2919174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calls are the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sole interface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between user programs and the kernel. xv6 defines a compact set of calls that collectively enable all user-level functionality.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711934" y="4013716"/>
            <a:ext cx="1936909" cy="170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78550" y="5287744"/>
            <a:ext cx="4196358" cy="1738432"/>
          </a:xfrm>
          <a:prstGeom prst="roundRect">
            <a:avLst>
              <a:gd name="adj" fmla="val 195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084" y="58026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 Control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51084" y="6293048"/>
            <a:ext cx="3681770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exit()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180679" y="5293583"/>
            <a:ext cx="4196358" cy="1738432"/>
          </a:xfrm>
          <a:prstGeom prst="roundRect">
            <a:avLst>
              <a:gd name="adj" fmla="val 195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74256" y="58026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I/O Operations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74256" y="6293048"/>
            <a:ext cx="3681770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write()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9640133" y="5287744"/>
            <a:ext cx="4196358" cy="1738432"/>
          </a:xfrm>
          <a:prstGeom prst="roundRect">
            <a:avLst>
              <a:gd name="adj" fmla="val 1957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97427" y="57392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Memory Control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897427" y="6178323"/>
            <a:ext cx="3681770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sbrk()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dynamically grows the process heap</a:t>
            </a:r>
            <a:endParaRPr lang="en-US" sz="17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716" y="1303972"/>
            <a:ext cx="4419191" cy="379315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214" y="7688135"/>
            <a:ext cx="2263336" cy="457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3067"/>
            <a:ext cx="1562814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91051"/>
            <a:ext cx="129063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CONCURRENCY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40036"/>
            <a:ext cx="82727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 </a:t>
            </a:r>
            <a:r>
              <a:rPr lang="en-US" sz="4450" dirty="0" smtClean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Lifecycle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515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 Lifecycle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93790" y="3125272"/>
            <a:ext cx="3008948" cy="2131100"/>
          </a:xfrm>
          <a:prstGeom prst="roundRect">
            <a:avLst>
              <a:gd name="adj" fmla="val 1597"/>
            </a:avLst>
          </a:prstGeom>
          <a:solidFill>
            <a:srgbClr val="E9ECF2"/>
          </a:solidFill>
          <a:ln/>
        </p:spPr>
      </p:sp>
      <p:sp>
        <p:nvSpPr>
          <p:cNvPr id="7" name="Text 5"/>
          <p:cNvSpPr/>
          <p:nvPr/>
        </p:nvSpPr>
        <p:spPr>
          <a:xfrm>
            <a:off x="1020604" y="3352086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Create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3933230"/>
            <a:ext cx="2555319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duplicates the parent's address space and page tables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4029551" y="3125272"/>
            <a:ext cx="3008948" cy="2131100"/>
          </a:xfrm>
          <a:prstGeom prst="roundRect">
            <a:avLst>
              <a:gd name="adj" fmla="val 1597"/>
            </a:avLst>
          </a:prstGeom>
          <a:solidFill>
            <a:srgbClr val="E9ECF2"/>
          </a:solidFill>
          <a:ln/>
        </p:spPr>
      </p:sp>
      <p:sp>
        <p:nvSpPr>
          <p:cNvPr id="10" name="Text 8"/>
          <p:cNvSpPr/>
          <p:nvPr/>
        </p:nvSpPr>
        <p:spPr>
          <a:xfrm>
            <a:off x="4256365" y="3352086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Run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56365" y="3933230"/>
            <a:ext cx="2555319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replaces the memory image with a new program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483185"/>
            <a:ext cx="6244709" cy="1768197"/>
          </a:xfrm>
          <a:prstGeom prst="roundRect">
            <a:avLst>
              <a:gd name="adj" fmla="val 1924"/>
            </a:avLst>
          </a:prstGeom>
          <a:solidFill>
            <a:srgbClr val="E9ECF2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604" y="5709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6291143"/>
            <a:ext cx="579108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exit()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marks process ZOMBIE; parent's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frees resources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99521" y="2515791"/>
            <a:ext cx="33470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99521" y="3096935"/>
            <a:ext cx="6244709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99521" y="4397335"/>
            <a:ext cx="6244709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67" r="16757"/>
          <a:stretch/>
        </p:blipFill>
        <p:spPr>
          <a:xfrm>
            <a:off x="8242058" y="3077778"/>
            <a:ext cx="4374572" cy="41736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7064" y="7673001"/>
            <a:ext cx="2263336" cy="457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3067"/>
            <a:ext cx="1562814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91051"/>
            <a:ext cx="129063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CONCURRENCY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40036"/>
            <a:ext cx="82727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Process Scheduling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515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0604" y="3352086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3933230"/>
            <a:ext cx="2555319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256365" y="3352086"/>
            <a:ext cx="25553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56365" y="3933230"/>
            <a:ext cx="2555319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20604" y="5709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0604" y="6291143"/>
            <a:ext cx="5791081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20604" y="2586692"/>
            <a:ext cx="33470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Round-Robin Scheduling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20605" y="3096935"/>
            <a:ext cx="7759713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xv6 uses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preemptive round-robin scheduling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The timer interrupt triggers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swtch()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save and restore CPU context, cycling through runnable processes.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020606" y="4397335"/>
            <a:ext cx="6834922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sleep()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wakeup()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coordinate blocking and signaling on kernel channels, enabling efficient wait queues without busy-waiting.</a:t>
            </a:r>
            <a:endParaRPr lang="en-US" sz="175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6"/>
          <a:stretch/>
        </p:blipFill>
        <p:spPr>
          <a:xfrm>
            <a:off x="9202579" y="1580896"/>
            <a:ext cx="3787705" cy="544367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3386" y="7658080"/>
            <a:ext cx="2263336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345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26569"/>
            <a:ext cx="1484709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94554"/>
            <a:ext cx="121253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&amp; I/O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43539"/>
            <a:ext cx="107670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Memory Management &amp; File Descriptors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919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Virtual Memory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043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process has an </a:t>
            </a:r>
            <a:r>
              <a:rPr lang="en-US" sz="17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isolated virtual address space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Page tables map virtual addresses to physical RAM frames, enforced by RISC-V hardware.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93218"/>
            <a:ext cx="6244709" cy="812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 and user spaces separated by privilege modes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sbrk()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grows the heap for dynamic allocation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9192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File Descriptors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50043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integers referencing kernel-managed streams — unifying 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files, devices, and pipes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430316"/>
            <a:ext cx="6244709" cy="8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stdin,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stdout,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stderr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across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redirected via 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</a:t>
            </a:r>
            <a:r>
              <a:rPr lang="en-US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close()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99521" y="5505807"/>
            <a:ext cx="6244709" cy="1341953"/>
          </a:xfrm>
          <a:prstGeom prst="roundRect">
            <a:avLst>
              <a:gd name="adj" fmla="val 2535"/>
            </a:avLst>
          </a:prstGeom>
          <a:solidFill>
            <a:srgbClr val="B6D6F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5849898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36637" y="5789295"/>
            <a:ext cx="5280779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</a:t>
            </a:r>
            <a:r>
              <a:rPr lang="en-US" sz="1750" dirty="0">
                <a:solidFill>
                  <a:srgbClr val="000000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cat file &gt; out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shell reopens fd 1 to "out" before </a:t>
            </a:r>
            <a:r>
              <a:rPr lang="en-US" sz="1750" dirty="0">
                <a:solidFill>
                  <a:srgbClr val="000000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exec()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214" y="7748721"/>
            <a:ext cx="2263336" cy="457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67941"/>
            <a:ext cx="1565434" cy="397907"/>
          </a:xfrm>
          <a:prstGeom prst="roundRect">
            <a:avLst>
              <a:gd name="adj" fmla="val 6499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22972" y="732473"/>
            <a:ext cx="130706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&amp; EXTEND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3790" y="1147643"/>
            <a:ext cx="1150691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Compilation Flow &amp; Adding a New Command</a:t>
            </a:r>
            <a:endParaRPr lang="en-US" sz="4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60" y="2128123"/>
            <a:ext cx="11993761" cy="450056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61020" y="3274497"/>
            <a:ext cx="619519" cy="619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009066" y="5361892"/>
            <a:ext cx="1808998" cy="69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xv6 boot &amp; run</a:t>
            </a:r>
            <a:endParaRPr lang="en-US" sz="2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92996" y="3275659"/>
            <a:ext cx="619520" cy="619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29233" y="5361892"/>
            <a:ext cx="1808998" cy="69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Embed fs.img</a:t>
            </a:r>
            <a:endParaRPr lang="en-US" sz="2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5552" y="3275659"/>
            <a:ext cx="619520" cy="6195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61789" y="5536133"/>
            <a:ext cx="1808998" cy="34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Link ELF</a:t>
            </a:r>
            <a:endParaRPr lang="en-US" sz="21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8109" y="3275659"/>
            <a:ext cx="619520" cy="6195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194345" y="5536133"/>
            <a:ext cx="1808998" cy="34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Compile .o</a:t>
            </a:r>
            <a:endParaRPr lang="en-US" sz="21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78275" y="3275659"/>
            <a:ext cx="619520" cy="6195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77340" y="5536133"/>
            <a:ext cx="1808999" cy="34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Write .c</a:t>
            </a:r>
            <a:endParaRPr lang="en-US" sz="2150" dirty="0"/>
          </a:p>
        </p:txBody>
      </p:sp>
      <p:sp>
        <p:nvSpPr>
          <p:cNvPr id="16" name="Text 8"/>
          <p:cNvSpPr/>
          <p:nvPr/>
        </p:nvSpPr>
        <p:spPr>
          <a:xfrm>
            <a:off x="793790" y="6858953"/>
            <a:ext cx="13042821" cy="70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add a custom command: </a:t>
            </a:r>
            <a:r>
              <a:rPr lang="en-US" sz="16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(1)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Create </a:t>
            </a:r>
            <a:r>
              <a:rPr lang="en-US" sz="1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mycommand.c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a </a:t>
            </a:r>
            <a:r>
              <a:rPr lang="en-US" sz="1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function. </a:t>
            </a:r>
            <a:r>
              <a:rPr lang="en-US" sz="16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(2)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 it to </a:t>
            </a:r>
            <a:r>
              <a:rPr lang="en-US" sz="1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UPROGS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the </a:t>
            </a:r>
            <a:r>
              <a:rPr lang="en-US" sz="1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Makefile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r>
              <a:rPr lang="en-US" sz="16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(3)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Run </a:t>
            </a:r>
            <a:r>
              <a:rPr lang="en-US" sz="16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make qemu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rebuild. </a:t>
            </a:r>
            <a:r>
              <a:rPr lang="en-US" sz="16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(4)</a:t>
            </a: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Execute the new command from the xv6 shell.</a:t>
            </a:r>
            <a:endParaRPr lang="en-US" sz="165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0704" y="7703709"/>
            <a:ext cx="2263336" cy="457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67941"/>
            <a:ext cx="1565434" cy="397907"/>
          </a:xfrm>
          <a:prstGeom prst="roundRect">
            <a:avLst>
              <a:gd name="adj" fmla="val 6499"/>
            </a:avLst>
          </a:prstGeom>
          <a:solidFill>
            <a:srgbClr val="D7DFF4"/>
          </a:solidFill>
          <a:ln/>
        </p:spPr>
      </p:sp>
      <p:sp>
        <p:nvSpPr>
          <p:cNvPr id="3" name="Text 1"/>
          <p:cNvSpPr/>
          <p:nvPr/>
        </p:nvSpPr>
        <p:spPr>
          <a:xfrm>
            <a:off x="922972" y="732473"/>
            <a:ext cx="1307068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&amp; EXTEND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3790" y="1147643"/>
            <a:ext cx="11506914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3600" dirty="0" smtClean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</a:rPr>
              <a:t>XV6 Life Cycle Overview</a:t>
            </a:r>
            <a:endParaRPr lang="en-US" sz="36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72" y="2369127"/>
            <a:ext cx="5394701" cy="433095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7" t="-1080" r="6233" b="1080"/>
          <a:stretch/>
        </p:blipFill>
        <p:spPr>
          <a:xfrm>
            <a:off x="6547247" y="2241517"/>
            <a:ext cx="7775863" cy="445856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0704" y="7658080"/>
            <a:ext cx="2263336" cy="4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89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93790" y="22464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29541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xv6 bridges the gap between academic theory and real-world operating system design.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is an excellent platform for practical OS learning, experimentation, and research.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25732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takeaway: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understanding xv6 provides deep insights into how modern operating systems work.</a:t>
            </a:r>
            <a:endParaRPr lang="en-US" sz="1750" dirty="0"/>
          </a:p>
        </p:txBody>
      </p:sp>
      <p:pic>
        <p:nvPicPr>
          <p:cNvPr id="4098" name="Picture 2" descr="How to write an excellent thesis conclusion [with examples] - Paperpi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0130" y="2714061"/>
            <a:ext cx="3188533" cy="373665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7064" y="7658080"/>
            <a:ext cx="2263336" cy="45724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9ECF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1188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1677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 for your time and attention throughout this presentation.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7858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and discussion are very welcome.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440388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Contact: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aburayhan.pust14@gmail.com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38484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you'd like to continue exploring xv6, I encourage you to dive deeper into the source code and documentation.</a:t>
            </a:r>
            <a:endParaRPr lang="en-US" sz="17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862</Words>
  <Application>Microsoft Office PowerPoint</Application>
  <PresentationFormat>Custom</PresentationFormat>
  <Paragraphs>149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Consolas</vt:lpstr>
      <vt:lpstr>Roboto</vt:lpstr>
      <vt:lpstr>Roboto Slab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Abu Rayhan</dc:creator>
  <cp:lastModifiedBy>Abu Rayhan</cp:lastModifiedBy>
  <cp:revision>13</cp:revision>
  <dcterms:created xsi:type="dcterms:W3CDTF">2026-04-17T10:19:04Z</dcterms:created>
  <dcterms:modified xsi:type="dcterms:W3CDTF">2026-05-20T10:26:48Z</dcterms:modified>
</cp:coreProperties>
</file>